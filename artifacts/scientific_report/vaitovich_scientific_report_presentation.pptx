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wide"/>
  <p:notesSz cx="6858000" cy="9144000"/>
  <p:defaultTextStyle>
    <a:defPPr>
      <a:defRPr lang="ru-RU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2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2" name="Shape 2"/>
          <p:cNvSpPr/>
          <p:nvPr/>
        </p:nvSpPr>
        <p:spPr>
          <a:xfrm>
            <a:off x="8046720" y="-548640"/>
            <a:ext cx="3840480" cy="3840480"/>
          </a:xfrm>
          <a:prstGeom prst="ellipse">
            <a:avLst/>
          </a:prstGeom>
          <a:solidFill>
            <a:srgbClr val="22D3EE">
              <a:alpha val="22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-914400" y="4480560"/>
            <a:ext cx="4389120" cy="274320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40080" y="640080"/>
            <a:ext cx="109728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40080" y="1143000"/>
            <a:ext cx="10607040" cy="1508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4200" b="1">
                <a:solidFill>
                  <a:srgbClr val="FFFFFF"/>
                </a:solidFill>
                <a:latin typeface="Aptos Display"/>
                <a:cs typeface="Aptos Display"/>
              </a:rPr>
              <a:t>Автоматизированная система</a:t>
            </a:r>
            <a:endParaRPr lang="ru-RU" sz="4200"/>
          </a:p>
          <a:p>
            <a:pPr algn="l"/>
            <a:r>
              <a:rPr lang="ru-RU" sz="4200" b="1">
                <a:solidFill>
                  <a:srgbClr val="FFFFFF"/>
                </a:solidFill>
                <a:latin typeface="Aptos Display"/>
                <a:cs typeface="Aptos Display"/>
              </a:rPr>
              <a:t>оптимизации процесса найма</a:t>
            </a:r>
            <a:endParaRPr lang="ru-RU" sz="4200"/>
          </a:p>
        </p:txBody>
      </p:sp>
      <p:sp>
        <p:nvSpPr>
          <p:cNvPr id="6" name="TextBox 6"/>
          <p:cNvSpPr txBox="1"/>
          <p:nvPr/>
        </p:nvSpPr>
        <p:spPr>
          <a:xfrm>
            <a:off x="685800" y="288036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200">
                <a:solidFill>
                  <a:srgbClr val="A7F3D0"/>
                </a:solidFill>
                <a:latin typeface="Aptos"/>
                <a:cs typeface="Aptos"/>
              </a:rPr>
              <a:t>и безопасного управления данными персонала</a:t>
            </a:r>
            <a:endParaRPr lang="ru-RU" sz="2200"/>
          </a:p>
        </p:txBody>
      </p:sp>
      <p:sp>
        <p:nvSpPr>
          <p:cNvPr id="7" name="Shape 7"/>
          <p:cNvSpPr/>
          <p:nvPr/>
        </p:nvSpPr>
        <p:spPr>
          <a:xfrm>
            <a:off x="685800" y="4800600"/>
            <a:ext cx="4892040" cy="65836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14400" y="4965192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900" b="1">
                <a:solidFill>
                  <a:srgbClr val="FFFFFF"/>
                </a:solidFill>
                <a:latin typeface="Aptos"/>
                <a:cs typeface="Aptos"/>
              </a:rPr>
              <a:t>Подготовил Войтович Евгений</a:t>
            </a:r>
            <a:endParaRPr lang="ru-RU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784080" y="182880"/>
            <a:ext cx="1920240" cy="1920240"/>
          </a:xfrm>
          <a:prstGeom prst="ellipse">
            <a:avLst/>
          </a:prstGeom>
          <a:solidFill>
            <a:srgbClr val="14B8A6">
              <a:alpha val="1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8640" y="50292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100" b="1">
                <a:solidFill>
                  <a:srgbClr val="FFFFFF"/>
                </a:solidFill>
                <a:latin typeface="Aptos Display"/>
                <a:cs typeface="Aptos Display"/>
              </a:rPr>
              <a:t>Проблема первичного отбора</a:t>
            </a:r>
            <a:endParaRPr lang="ru-RU" sz="3100"/>
          </a:p>
        </p:txBody>
      </p:sp>
      <p:sp>
        <p:nvSpPr>
          <p:cNvPr id="5" name="TextBox 5"/>
          <p:cNvSpPr txBox="1"/>
          <p:nvPr/>
        </p:nvSpPr>
        <p:spPr>
          <a:xfrm>
            <a:off x="566928" y="114300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600">
                <a:solidFill>
                  <a:srgbClr val="A7F3D0"/>
                </a:solidFill>
                <a:latin typeface="Aptos"/>
                <a:cs typeface="Aptos"/>
              </a:rPr>
              <a:t>Много резюме, мало времени и разные формулировки опыта</a:t>
            </a:r>
            <a:endParaRPr lang="ru-RU" sz="1600"/>
          </a:p>
        </p:txBody>
      </p:sp>
      <p:sp>
        <p:nvSpPr>
          <p:cNvPr id="6" name="Shape 6"/>
          <p:cNvSpPr/>
          <p:nvPr/>
        </p:nvSpPr>
        <p:spPr>
          <a:xfrm>
            <a:off x="640080" y="1965960"/>
            <a:ext cx="3246120" cy="228600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7" name="Shape 7"/>
          <p:cNvSpPr/>
          <p:nvPr/>
        </p:nvSpPr>
        <p:spPr>
          <a:xfrm>
            <a:off x="4434840" y="1965960"/>
            <a:ext cx="3246120" cy="228600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8" name="Shape 8"/>
          <p:cNvSpPr/>
          <p:nvPr/>
        </p:nvSpPr>
        <p:spPr>
          <a:xfrm>
            <a:off x="8229600" y="1965960"/>
            <a:ext cx="3246120" cy="228600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14400" y="23317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2300" b="1">
                <a:solidFill>
                  <a:srgbClr val="FDE68A"/>
                </a:solidFill>
                <a:latin typeface="Aptos"/>
                <a:cs typeface="Aptos"/>
              </a:rPr>
              <a:t>PDF и DOCX</a:t>
            </a:r>
            <a:endParaRPr lang="ru-RU" sz="2300"/>
          </a:p>
        </p:txBody>
      </p:sp>
      <p:sp>
        <p:nvSpPr>
          <p:cNvPr id="10" name="TextBox 10"/>
          <p:cNvSpPr txBox="1"/>
          <p:nvPr/>
        </p:nvSpPr>
        <p:spPr>
          <a:xfrm>
            <a:off x="960120" y="306324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500">
                <a:solidFill>
                  <a:srgbClr val="DDEAF0"/>
                </a:solidFill>
                <a:latin typeface="Aptos"/>
                <a:cs typeface="Aptos"/>
              </a:rPr>
              <a:t>разные форматы</a:t>
            </a:r>
            <a:endParaRPr lang="ru-RU" sz="1500"/>
          </a:p>
          <a:p>
            <a:pPr algn="c"/>
            <a:r>
              <a:rPr lang="ru-RU" sz="1500">
                <a:solidFill>
                  <a:srgbClr val="DDEAF0"/>
                </a:solidFill>
                <a:latin typeface="Aptos"/>
                <a:cs typeface="Aptos"/>
              </a:rPr>
              <a:t>и структура CV</a:t>
            </a:r>
            <a:endParaRPr lang="ru-RU" sz="1500"/>
          </a:p>
        </p:txBody>
      </p:sp>
      <p:sp>
        <p:nvSpPr>
          <p:cNvPr id="11" name="TextBox 11"/>
          <p:cNvSpPr txBox="1"/>
          <p:nvPr/>
        </p:nvSpPr>
        <p:spPr>
          <a:xfrm>
            <a:off x="4709160" y="23317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2300" b="1">
                <a:solidFill>
                  <a:srgbClr val="67E8F9"/>
                </a:solidFill>
                <a:latin typeface="Aptos"/>
                <a:cs typeface="Aptos"/>
              </a:rPr>
              <a:t>RU + EN</a:t>
            </a:r>
            <a:endParaRPr lang="ru-RU" sz="2300"/>
          </a:p>
        </p:txBody>
      </p:sp>
      <p:sp>
        <p:nvSpPr>
          <p:cNvPr id="12" name="TextBox 12"/>
          <p:cNvSpPr txBox="1"/>
          <p:nvPr/>
        </p:nvSpPr>
        <p:spPr>
          <a:xfrm>
            <a:off x="4773168" y="3063240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500">
                <a:solidFill>
                  <a:srgbClr val="DDEAF0"/>
                </a:solidFill>
                <a:latin typeface="Aptos"/>
                <a:cs typeface="Aptos"/>
              </a:rPr>
              <a:t>двуязычные</a:t>
            </a:r>
            <a:endParaRPr lang="ru-RU" sz="1500"/>
          </a:p>
          <a:p>
            <a:pPr algn="c"/>
            <a:r>
              <a:rPr lang="ru-RU" sz="1500">
                <a:solidFill>
                  <a:srgbClr val="DDEAF0"/>
                </a:solidFill>
                <a:latin typeface="Aptos"/>
                <a:cs typeface="Aptos"/>
              </a:rPr>
              <a:t>документы</a:t>
            </a:r>
            <a:endParaRPr lang="ru-RU" sz="1500"/>
          </a:p>
        </p:txBody>
      </p:sp>
      <p:sp>
        <p:nvSpPr>
          <p:cNvPr id="13" name="TextBox 13"/>
          <p:cNvSpPr txBox="1"/>
          <p:nvPr/>
        </p:nvSpPr>
        <p:spPr>
          <a:xfrm>
            <a:off x="8503920" y="23317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2200" b="1">
                <a:solidFill>
                  <a:srgbClr val="A7F3D0"/>
                </a:solidFill>
                <a:latin typeface="Aptos"/>
                <a:cs typeface="Aptos"/>
              </a:rPr>
              <a:t>Ручной скрининг</a:t>
            </a:r>
            <a:endParaRPr lang="ru-RU" sz="2200"/>
          </a:p>
        </p:txBody>
      </p:sp>
      <p:sp>
        <p:nvSpPr>
          <p:cNvPr id="14" name="TextBox 14"/>
          <p:cNvSpPr txBox="1"/>
          <p:nvPr/>
        </p:nvSpPr>
        <p:spPr>
          <a:xfrm>
            <a:off x="8549640" y="306324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500">
                <a:solidFill>
                  <a:srgbClr val="DDEAF0"/>
                </a:solidFill>
                <a:latin typeface="Aptos"/>
                <a:cs typeface="Aptos"/>
              </a:rPr>
              <a:t>медленно</a:t>
            </a:r>
            <a:endParaRPr lang="ru-RU" sz="1500"/>
          </a:p>
          <a:p>
            <a:pPr algn="c"/>
            <a:r>
              <a:rPr lang="ru-RU" sz="1500">
                <a:solidFill>
                  <a:srgbClr val="DDEAF0"/>
                </a:solidFill>
                <a:latin typeface="Aptos"/>
                <a:cs typeface="Aptos"/>
              </a:rPr>
              <a:t>и неоднородно</a:t>
            </a:r>
            <a:endParaRPr lang="ru-RU" sz="1500"/>
          </a:p>
        </p:txBody>
      </p:sp>
      <p:sp>
        <p:nvSpPr>
          <p:cNvPr id="15" name="TextBox 15"/>
          <p:cNvSpPr txBox="1"/>
          <p:nvPr/>
        </p:nvSpPr>
        <p:spPr>
          <a:xfrm>
            <a:off x="960120" y="4892040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2100" b="1">
                <a:solidFill>
                  <a:srgbClr val="FFFFFF"/>
                </a:solidFill>
                <a:latin typeface="Aptos"/>
                <a:cs typeface="Aptos"/>
              </a:rPr>
              <a:t>Цель: ускорить отбор и сохранить проверяемость решений</a:t>
            </a:r>
            <a:endParaRPr lang="ru-RU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8640" y="50292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100" b="1">
                <a:solidFill>
                  <a:srgbClr val="FFFFFF"/>
                </a:solidFill>
                <a:latin typeface="Aptos Display"/>
                <a:cs typeface="Aptos Display"/>
              </a:rPr>
              <a:t>Архитектура решения</a:t>
            </a:r>
            <a:endParaRPr lang="ru-RU" sz="3100"/>
          </a:p>
        </p:txBody>
      </p:sp>
      <p:sp>
        <p:nvSpPr>
          <p:cNvPr id="4" name="TextBox 4"/>
          <p:cNvSpPr txBox="1"/>
          <p:nvPr/>
        </p:nvSpPr>
        <p:spPr>
          <a:xfrm>
            <a:off x="566928" y="1069848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50">
                <a:solidFill>
                  <a:srgbClr val="A7F3D0"/>
                </a:solidFill>
                <a:latin typeface="Aptos"/>
                <a:cs typeface="Aptos"/>
              </a:rPr>
              <a:t>Модульный backend, асинхронная обработка, отдельный AI-адаптер</a:t>
            </a:r>
            <a:endParaRPr lang="ru-RU" sz="1550"/>
          </a:p>
        </p:txBody>
      </p:sp>
      <p:sp>
        <p:nvSpPr>
          <p:cNvPr id="5" name="Shape 5"/>
          <p:cNvSpPr/>
          <p:nvPr/>
        </p:nvSpPr>
        <p:spPr>
          <a:xfrm>
            <a:off x="685800" y="2240280"/>
            <a:ext cx="1600200" cy="123444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22D3E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95528" y="2523744"/>
            <a:ext cx="13807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React + TS</a:t>
            </a:r>
            <a:endParaRPr lang="ru-RU" sz="1700"/>
          </a:p>
        </p:txBody>
      </p:sp>
      <p:sp>
        <p:nvSpPr>
          <p:cNvPr id="7" name="TextBox 7"/>
          <p:cNvSpPr txBox="1"/>
          <p:nvPr/>
        </p:nvSpPr>
        <p:spPr>
          <a:xfrm>
            <a:off x="795528" y="2990088"/>
            <a:ext cx="13807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role-based UI</a:t>
            </a:r>
            <a:endParaRPr lang="ru-RU" sz="1150"/>
          </a:p>
        </p:txBody>
      </p:sp>
      <p:sp>
        <p:nvSpPr>
          <p:cNvPr id="8" name="Shape 8"/>
          <p:cNvSpPr/>
          <p:nvPr/>
        </p:nvSpPr>
        <p:spPr>
          <a:xfrm>
            <a:off x="2286000" y="2839212"/>
            <a:ext cx="548640" cy="274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2834640" y="2240280"/>
            <a:ext cx="1600200" cy="123444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22D3EE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944368" y="2523744"/>
            <a:ext cx="13807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FastAPI</a:t>
            </a:r>
            <a:endParaRPr lang="ru-RU" sz="1700"/>
          </a:p>
        </p:txBody>
      </p:sp>
      <p:sp>
        <p:nvSpPr>
          <p:cNvPr id="11" name="TextBox 11"/>
          <p:cNvSpPr txBox="1"/>
          <p:nvPr/>
        </p:nvSpPr>
        <p:spPr>
          <a:xfrm>
            <a:off x="2944368" y="2990088"/>
            <a:ext cx="13807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API и домены</a:t>
            </a:r>
            <a:endParaRPr lang="ru-RU" sz="1150"/>
          </a:p>
        </p:txBody>
      </p:sp>
      <p:sp>
        <p:nvSpPr>
          <p:cNvPr id="12" name="Shape 12"/>
          <p:cNvSpPr/>
          <p:nvPr/>
        </p:nvSpPr>
        <p:spPr>
          <a:xfrm>
            <a:off x="4434840" y="2839212"/>
            <a:ext cx="548640" cy="274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4983480" y="2240280"/>
            <a:ext cx="1600200" cy="123444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22D3E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93208" y="2523744"/>
            <a:ext cx="13807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PostgreSQL</a:t>
            </a:r>
            <a:endParaRPr lang="ru-RU" sz="1700"/>
          </a:p>
          <a:p>
            <a:pPr algn="c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+ MinIO</a:t>
            </a:r>
            <a:endParaRPr lang="ru-RU" sz="1700"/>
          </a:p>
        </p:txBody>
      </p:sp>
      <p:sp>
        <p:nvSpPr>
          <p:cNvPr id="15" name="TextBox 15"/>
          <p:cNvSpPr txBox="1"/>
          <p:nvPr/>
        </p:nvSpPr>
        <p:spPr>
          <a:xfrm>
            <a:off x="5093208" y="2990088"/>
            <a:ext cx="13807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данные и CV</a:t>
            </a:r>
            <a:endParaRPr lang="ru-RU" sz="1150"/>
          </a:p>
        </p:txBody>
      </p:sp>
      <p:sp>
        <p:nvSpPr>
          <p:cNvPr id="16" name="Shape 16"/>
          <p:cNvSpPr/>
          <p:nvPr/>
        </p:nvSpPr>
        <p:spPr>
          <a:xfrm>
            <a:off x="6583680" y="2839212"/>
            <a:ext cx="548640" cy="274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7132320" y="2240280"/>
            <a:ext cx="1600200" cy="123444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22D3EE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242048" y="2523744"/>
            <a:ext cx="13807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Celery</a:t>
            </a:r>
            <a:endParaRPr lang="ru-RU" sz="1700"/>
          </a:p>
          <a:p>
            <a:pPr algn="c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+ Redis</a:t>
            </a:r>
            <a:endParaRPr lang="ru-RU" sz="1700"/>
          </a:p>
        </p:txBody>
      </p:sp>
      <p:sp>
        <p:nvSpPr>
          <p:cNvPr id="19" name="TextBox 19"/>
          <p:cNvSpPr txBox="1"/>
          <p:nvPr/>
        </p:nvSpPr>
        <p:spPr>
          <a:xfrm>
            <a:off x="7242048" y="2990088"/>
            <a:ext cx="13807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фоновые задачи</a:t>
            </a:r>
            <a:endParaRPr lang="ru-RU" sz="1150"/>
          </a:p>
        </p:txBody>
      </p:sp>
      <p:sp>
        <p:nvSpPr>
          <p:cNvPr id="20" name="Shape 20"/>
          <p:cNvSpPr/>
          <p:nvPr/>
        </p:nvSpPr>
        <p:spPr>
          <a:xfrm>
            <a:off x="8732520" y="2839212"/>
            <a:ext cx="548640" cy="274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9281160" y="2240280"/>
            <a:ext cx="1600200" cy="123444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22D3E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390888" y="2523744"/>
            <a:ext cx="138074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00" b="1">
                <a:solidFill>
                  <a:srgbClr val="FFFFFF"/>
                </a:solidFill>
                <a:latin typeface="Aptos"/>
                <a:cs typeface="Aptos"/>
              </a:rPr>
              <a:t>Ollama</a:t>
            </a:r>
            <a:endParaRPr lang="ru-RU" sz="1700"/>
          </a:p>
        </p:txBody>
      </p:sp>
      <p:sp>
        <p:nvSpPr>
          <p:cNvPr id="23" name="TextBox 23"/>
          <p:cNvSpPr txBox="1"/>
          <p:nvPr/>
        </p:nvSpPr>
        <p:spPr>
          <a:xfrm>
            <a:off x="9390888" y="2990088"/>
            <a:ext cx="13807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LLM scoring</a:t>
            </a:r>
            <a:endParaRPr lang="ru-RU" sz="1150"/>
          </a:p>
        </p:txBody>
      </p:sp>
      <p:sp>
        <p:nvSpPr>
          <p:cNvPr id="24" name="Shape 24"/>
          <p:cNvSpPr/>
          <p:nvPr/>
        </p:nvSpPr>
        <p:spPr>
          <a:xfrm>
            <a:off x="1051560" y="4480560"/>
            <a:ext cx="10012680" cy="777240"/>
          </a:xfrm>
          <a:prstGeom prst="roundRect">
            <a:avLst/>
          </a:prstGeom>
          <a:solidFill>
            <a:srgbClr val="0B3A53"/>
          </a:solidFill>
          <a:ln w="12700">
            <a:solidFill>
              <a:srgbClr val="1E4E66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325880" y="4690872"/>
            <a:ext cx="9464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500" b="1">
                <a:solidFill>
                  <a:srgbClr val="DFFBFF"/>
                </a:solidFill>
                <a:latin typeface="Aptos"/>
                <a:cs typeface="Aptos"/>
              </a:rPr>
              <a:t>Ключевой принцип: тяжёлые операции не блокируют интерфейс пользователя</a:t>
            </a:r>
            <a:endParaRPr lang="ru-RU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8640" y="457200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100" b="1">
                <a:solidFill>
                  <a:srgbClr val="FFFFFF"/>
                </a:solidFill>
                <a:latin typeface="Aptos Display"/>
                <a:cs typeface="Aptos Display"/>
              </a:rPr>
              <a:t>Pipeline разбора CV</a:t>
            </a:r>
            <a:endParaRPr lang="ru-RU" sz="3100"/>
          </a:p>
        </p:txBody>
      </p:sp>
      <p:sp>
        <p:nvSpPr>
          <p:cNvPr id="4" name="TextBox 4"/>
          <p:cNvSpPr txBox="1"/>
          <p:nvPr/>
        </p:nvSpPr>
        <p:spPr>
          <a:xfrm>
            <a:off x="566928" y="1060704"/>
            <a:ext cx="7498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50">
                <a:solidFill>
                  <a:srgbClr val="A7F3D0"/>
                </a:solidFill>
                <a:latin typeface="Aptos"/>
                <a:cs typeface="Aptos"/>
              </a:rPr>
              <a:t>Без прямого вызова LLM: сначала факты, затем оценка</a:t>
            </a:r>
            <a:endParaRPr lang="ru-RU" sz="1550"/>
          </a:p>
        </p:txBody>
      </p:sp>
      <p:sp>
        <p:nvSpPr>
          <p:cNvPr id="5" name="Shape 5"/>
          <p:cNvSpPr/>
          <p:nvPr/>
        </p:nvSpPr>
        <p:spPr>
          <a:xfrm>
            <a:off x="868680" y="2011680"/>
            <a:ext cx="2148840" cy="205740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6" name="Shape 6"/>
          <p:cNvSpPr/>
          <p:nvPr/>
        </p:nvSpPr>
        <p:spPr>
          <a:xfrm>
            <a:off x="1581912" y="1664208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64792" y="1847088"/>
            <a:ext cx="3474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600" b="1">
                <a:solidFill>
                  <a:srgbClr val="071923"/>
                </a:solidFill>
                <a:latin typeface="Aptos"/>
                <a:cs typeface="Aptos"/>
              </a:rPr>
              <a:t>1</a:t>
            </a:r>
            <a:endParaRPr lang="ru-RU" sz="1600"/>
          </a:p>
        </p:txBody>
      </p:sp>
      <p:sp>
        <p:nvSpPr>
          <p:cNvPr id="8" name="TextBox 8"/>
          <p:cNvSpPr txBox="1"/>
          <p:nvPr/>
        </p:nvSpPr>
        <p:spPr>
          <a:xfrm>
            <a:off x="1051560" y="2615184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800" b="1">
                <a:solidFill>
                  <a:srgbClr val="FFFFFF"/>
                </a:solidFill>
                <a:latin typeface="Aptos"/>
                <a:cs typeface="Aptos"/>
              </a:rPr>
              <a:t>Загрузка CV</a:t>
            </a:r>
            <a:endParaRPr lang="ru-RU" sz="1800"/>
          </a:p>
        </p:txBody>
      </p:sp>
      <p:sp>
        <p:nvSpPr>
          <p:cNvPr id="9" name="TextBox 9"/>
          <p:cNvSpPr txBox="1"/>
          <p:nvPr/>
        </p:nvSpPr>
        <p:spPr>
          <a:xfrm>
            <a:off x="1069848" y="31546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300">
                <a:solidFill>
                  <a:srgbClr val="BAE6FD"/>
                </a:solidFill>
                <a:latin typeface="Aptos"/>
                <a:cs typeface="Aptos"/>
              </a:rPr>
              <a:t>валидация файла</a:t>
            </a:r>
            <a:endParaRPr lang="ru-RU" sz="1300"/>
          </a:p>
        </p:txBody>
      </p:sp>
      <p:sp>
        <p:nvSpPr>
          <p:cNvPr id="10" name="Shape 10"/>
          <p:cNvSpPr/>
          <p:nvPr/>
        </p:nvSpPr>
        <p:spPr>
          <a:xfrm>
            <a:off x="3017520" y="3022092"/>
            <a:ext cx="640080" cy="2743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3657600" y="2011680"/>
            <a:ext cx="2148840" cy="205740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70832" y="1664208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553712" y="1847088"/>
            <a:ext cx="3474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600" b="1">
                <a:solidFill>
                  <a:srgbClr val="071923"/>
                </a:solidFill>
                <a:latin typeface="Aptos"/>
                <a:cs typeface="Aptos"/>
              </a:rPr>
              <a:t>2</a:t>
            </a:r>
            <a:endParaRPr lang="ru-RU" sz="1600"/>
          </a:p>
        </p:txBody>
      </p:sp>
      <p:sp>
        <p:nvSpPr>
          <p:cNvPr id="14" name="TextBox 14"/>
          <p:cNvSpPr txBox="1"/>
          <p:nvPr/>
        </p:nvSpPr>
        <p:spPr>
          <a:xfrm>
            <a:off x="3840480" y="2615184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800" b="1">
                <a:solidFill>
                  <a:srgbClr val="FFFFFF"/>
                </a:solidFill>
                <a:latin typeface="Aptos"/>
                <a:cs typeface="Aptos"/>
              </a:rPr>
              <a:t>Text extraction</a:t>
            </a:r>
            <a:endParaRPr lang="ru-RU" sz="1800"/>
          </a:p>
        </p:txBody>
      </p:sp>
      <p:sp>
        <p:nvSpPr>
          <p:cNvPr id="15" name="TextBox 15"/>
          <p:cNvSpPr txBox="1"/>
          <p:nvPr/>
        </p:nvSpPr>
        <p:spPr>
          <a:xfrm>
            <a:off x="3858768" y="31546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300">
                <a:solidFill>
                  <a:srgbClr val="BAE6FD"/>
                </a:solidFill>
                <a:latin typeface="Aptos"/>
                <a:cs typeface="Aptos"/>
              </a:rPr>
              <a:t>PDF/DOCX</a:t>
            </a:r>
            <a:endParaRPr lang="ru-RU" sz="1300"/>
          </a:p>
        </p:txBody>
      </p:sp>
      <p:sp>
        <p:nvSpPr>
          <p:cNvPr id="16" name="Shape 16"/>
          <p:cNvSpPr/>
          <p:nvPr/>
        </p:nvSpPr>
        <p:spPr>
          <a:xfrm>
            <a:off x="5806440" y="3022092"/>
            <a:ext cx="640080" cy="2743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6446520" y="2011680"/>
            <a:ext cx="2148840" cy="205740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18" name="Shape 18"/>
          <p:cNvSpPr/>
          <p:nvPr/>
        </p:nvSpPr>
        <p:spPr>
          <a:xfrm>
            <a:off x="7159752" y="1664208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342632" y="1847088"/>
            <a:ext cx="3474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600" b="1">
                <a:solidFill>
                  <a:srgbClr val="071923"/>
                </a:solidFill>
                <a:latin typeface="Aptos"/>
                <a:cs typeface="Aptos"/>
              </a:rPr>
              <a:t>3</a:t>
            </a:r>
            <a:endParaRPr lang="ru-RU" sz="1600"/>
          </a:p>
        </p:txBody>
      </p:sp>
      <p:sp>
        <p:nvSpPr>
          <p:cNvPr id="20" name="TextBox 20"/>
          <p:cNvSpPr txBox="1"/>
          <p:nvPr/>
        </p:nvSpPr>
        <p:spPr>
          <a:xfrm>
            <a:off x="6629400" y="2615184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800" b="1">
                <a:solidFill>
                  <a:srgbClr val="FFFFFF"/>
                </a:solidFill>
                <a:latin typeface="Aptos"/>
                <a:cs typeface="Aptos"/>
              </a:rPr>
              <a:t>RU/EN normalize</a:t>
            </a:r>
            <a:endParaRPr lang="ru-RU" sz="1800"/>
          </a:p>
        </p:txBody>
      </p:sp>
      <p:sp>
        <p:nvSpPr>
          <p:cNvPr id="21" name="TextBox 21"/>
          <p:cNvSpPr txBox="1"/>
          <p:nvPr/>
        </p:nvSpPr>
        <p:spPr>
          <a:xfrm>
            <a:off x="6647688" y="31546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300">
                <a:solidFill>
                  <a:srgbClr val="BAE6FD"/>
                </a:solidFill>
                <a:latin typeface="Aptos"/>
                <a:cs typeface="Aptos"/>
              </a:rPr>
              <a:t>структура + даты</a:t>
            </a:r>
            <a:endParaRPr lang="ru-RU" sz="1300"/>
          </a:p>
        </p:txBody>
      </p:sp>
      <p:sp>
        <p:nvSpPr>
          <p:cNvPr id="22" name="Shape 22"/>
          <p:cNvSpPr/>
          <p:nvPr/>
        </p:nvSpPr>
        <p:spPr>
          <a:xfrm>
            <a:off x="8595360" y="3022092"/>
            <a:ext cx="640080" cy="2743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9235440" y="2011680"/>
            <a:ext cx="2148840" cy="205740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24" name="Shape 24"/>
          <p:cNvSpPr/>
          <p:nvPr/>
        </p:nvSpPr>
        <p:spPr>
          <a:xfrm>
            <a:off x="9948672" y="1664208"/>
            <a:ext cx="713232" cy="7132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131552" y="1847088"/>
            <a:ext cx="34747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600" b="1">
                <a:solidFill>
                  <a:srgbClr val="071923"/>
                </a:solidFill>
                <a:latin typeface="Aptos"/>
                <a:cs typeface="Aptos"/>
              </a:rPr>
              <a:t>4</a:t>
            </a:r>
            <a:endParaRPr lang="ru-RU" sz="1600"/>
          </a:p>
        </p:txBody>
      </p:sp>
      <p:sp>
        <p:nvSpPr>
          <p:cNvPr id="26" name="TextBox 26"/>
          <p:cNvSpPr txBox="1"/>
          <p:nvPr/>
        </p:nvSpPr>
        <p:spPr>
          <a:xfrm>
            <a:off x="9418320" y="2615184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800" b="1">
                <a:solidFill>
                  <a:srgbClr val="FFFFFF"/>
                </a:solidFill>
                <a:latin typeface="Aptos"/>
                <a:cs typeface="Aptos"/>
              </a:rPr>
              <a:t>Evidence</a:t>
            </a:r>
            <a:endParaRPr lang="ru-RU" sz="1800"/>
          </a:p>
        </p:txBody>
      </p:sp>
      <p:sp>
        <p:nvSpPr>
          <p:cNvPr id="27" name="TextBox 27"/>
          <p:cNvSpPr txBox="1"/>
          <p:nvPr/>
        </p:nvSpPr>
        <p:spPr>
          <a:xfrm>
            <a:off x="9436608" y="31546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300">
                <a:solidFill>
                  <a:srgbClr val="BAE6FD"/>
                </a:solidFill>
                <a:latin typeface="Aptos"/>
                <a:cs typeface="Aptos"/>
              </a:rPr>
              <a:t>фрагменты источника</a:t>
            </a:r>
            <a:endParaRPr lang="ru-RU" sz="1300"/>
          </a:p>
        </p:txBody>
      </p:sp>
      <p:sp>
        <p:nvSpPr>
          <p:cNvPr id="28" name="TextBox 28"/>
          <p:cNvSpPr txBox="1"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800" b="1">
                <a:solidFill>
                  <a:srgbClr val="FDE68A"/>
                </a:solidFill>
                <a:latin typeface="Aptos"/>
                <a:cs typeface="Aptos"/>
              </a:rPr>
              <a:t>Результат: parsed_profile_json + evidence_json + detected_language + parsed_at</a:t>
            </a:r>
            <a:endParaRPr lang="ru-RU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326880" y="4206240"/>
            <a:ext cx="3291840" cy="2011680"/>
          </a:xfrm>
          <a:prstGeom prst="ellipse">
            <a:avLst/>
          </a:prstGeom>
          <a:solidFill>
            <a:srgbClr val="22D3EE">
              <a:alpha val="13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8640" y="475488"/>
            <a:ext cx="768096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100" b="1">
                <a:solidFill>
                  <a:srgbClr val="FFFFFF"/>
                </a:solidFill>
                <a:latin typeface="Aptos Display"/>
                <a:cs typeface="Aptos Display"/>
              </a:rPr>
              <a:t>Где используется LLM</a:t>
            </a:r>
            <a:endParaRPr lang="ru-RU" sz="3100"/>
          </a:p>
        </p:txBody>
      </p:sp>
      <p:sp>
        <p:nvSpPr>
          <p:cNvPr id="5" name="TextBox 5"/>
          <p:cNvSpPr txBox="1"/>
          <p:nvPr/>
        </p:nvSpPr>
        <p:spPr>
          <a:xfrm>
            <a:off x="566928" y="106984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50">
                <a:solidFill>
                  <a:srgbClr val="A7F3D0"/>
                </a:solidFill>
                <a:latin typeface="Aptos"/>
                <a:cs typeface="Aptos"/>
              </a:rPr>
              <a:t>Ollama оценивает соответствие уже распарсенного CV вакансии</a:t>
            </a:r>
            <a:endParaRPr lang="ru-RU" sz="1550"/>
          </a:p>
        </p:txBody>
      </p:sp>
      <p:sp>
        <p:nvSpPr>
          <p:cNvPr id="6" name="Shape 6"/>
          <p:cNvSpPr/>
          <p:nvPr/>
        </p:nvSpPr>
        <p:spPr>
          <a:xfrm>
            <a:off x="822960" y="2331720"/>
            <a:ext cx="2423160" cy="132588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51560" y="263347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800" b="1">
                <a:solidFill>
                  <a:srgbClr val="FFFFFF"/>
                </a:solidFill>
                <a:latin typeface="Aptos"/>
                <a:cs typeface="Aptos"/>
              </a:rPr>
              <a:t>Вакансия JSON</a:t>
            </a:r>
            <a:endParaRPr lang="ru-RU" sz="1800"/>
          </a:p>
        </p:txBody>
      </p:sp>
      <p:sp>
        <p:nvSpPr>
          <p:cNvPr id="8" name="TextBox 8"/>
          <p:cNvSpPr txBox="1"/>
          <p:nvPr/>
        </p:nvSpPr>
        <p:spPr>
          <a:xfrm>
            <a:off x="1051560" y="3072384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200">
                <a:solidFill>
                  <a:srgbClr val="BAE6FD"/>
                </a:solidFill>
                <a:latin typeface="Aptos"/>
                <a:cs typeface="Aptos"/>
              </a:rPr>
              <a:t>требования и описание</a:t>
            </a:r>
            <a:endParaRPr lang="ru-RU" sz="1200"/>
          </a:p>
        </p:txBody>
      </p:sp>
      <p:sp>
        <p:nvSpPr>
          <p:cNvPr id="9" name="Shape 9"/>
          <p:cNvSpPr/>
          <p:nvPr/>
        </p:nvSpPr>
        <p:spPr>
          <a:xfrm>
            <a:off x="8961120" y="2331720"/>
            <a:ext cx="2423160" cy="1325880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1E4E66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9189720" y="263347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800" b="1">
                <a:solidFill>
                  <a:srgbClr val="FFFFFF"/>
                </a:solidFill>
                <a:latin typeface="Aptos"/>
                <a:cs typeface="Aptos"/>
              </a:rPr>
              <a:t>CV profile</a:t>
            </a:r>
            <a:endParaRPr lang="ru-RU" sz="1800"/>
          </a:p>
        </p:txBody>
      </p:sp>
      <p:sp>
        <p:nvSpPr>
          <p:cNvPr id="11" name="TextBox 11"/>
          <p:cNvSpPr txBox="1"/>
          <p:nvPr/>
        </p:nvSpPr>
        <p:spPr>
          <a:xfrm>
            <a:off x="9189720" y="3072384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200">
                <a:solidFill>
                  <a:srgbClr val="BAE6FD"/>
                </a:solidFill>
                <a:latin typeface="Aptos"/>
                <a:cs typeface="Aptos"/>
              </a:rPr>
              <a:t>skills, history, evidence</a:t>
            </a:r>
            <a:endParaRPr lang="ru-RU" sz="1200"/>
          </a:p>
        </p:txBody>
      </p:sp>
      <p:sp>
        <p:nvSpPr>
          <p:cNvPr id="12" name="Shape 12"/>
          <p:cNvSpPr/>
          <p:nvPr/>
        </p:nvSpPr>
        <p:spPr>
          <a:xfrm>
            <a:off x="4160520" y="2011680"/>
            <a:ext cx="3749040" cy="196596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5EEAD4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434840" y="248716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2600" b="1">
                <a:solidFill>
                  <a:srgbClr val="FFFFFF"/>
                </a:solidFill>
                <a:latin typeface="Aptos"/>
                <a:cs typeface="Aptos"/>
              </a:rPr>
              <a:t>Ollama</a:t>
            </a:r>
            <a:endParaRPr lang="ru-RU" sz="2600"/>
          </a:p>
        </p:txBody>
      </p:sp>
      <p:sp>
        <p:nvSpPr>
          <p:cNvPr id="14" name="TextBox 14"/>
          <p:cNvSpPr txBox="1"/>
          <p:nvPr/>
        </p:nvSpPr>
        <p:spPr>
          <a:xfrm>
            <a:off x="4434840" y="30632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00" b="1">
                <a:solidFill>
                  <a:srgbClr val="FDE68A"/>
                </a:solidFill>
                <a:latin typeface="Aptos"/>
                <a:cs typeface="Aptos"/>
              </a:rPr>
              <a:t>llama3.2:latest</a:t>
            </a:r>
            <a:endParaRPr lang="ru-RU" sz="1700"/>
          </a:p>
        </p:txBody>
      </p:sp>
      <p:sp>
        <p:nvSpPr>
          <p:cNvPr id="15" name="Shape 15"/>
          <p:cNvSpPr/>
          <p:nvPr/>
        </p:nvSpPr>
        <p:spPr>
          <a:xfrm>
            <a:off x="3246120" y="2985516"/>
            <a:ext cx="914400" cy="274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7909560" y="2985516"/>
            <a:ext cx="1051560" cy="274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2011680" y="4709160"/>
            <a:ext cx="2240280" cy="7132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4800600" y="4709160"/>
            <a:ext cx="2240280" cy="7132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7589520" y="4709160"/>
            <a:ext cx="2240280" cy="71323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240280" y="48920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score</a:t>
            </a:r>
            <a:endParaRPr lang="ru-RU" sz="1500"/>
          </a:p>
        </p:txBody>
      </p:sp>
      <p:sp>
        <p:nvSpPr>
          <p:cNvPr id="21" name="TextBox 21"/>
          <p:cNvSpPr txBox="1"/>
          <p:nvPr/>
        </p:nvSpPr>
        <p:spPr>
          <a:xfrm>
            <a:off x="5029200" y="48920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confidence</a:t>
            </a:r>
            <a:endParaRPr lang="ru-RU" sz="1500"/>
          </a:p>
        </p:txBody>
      </p:sp>
      <p:sp>
        <p:nvSpPr>
          <p:cNvPr id="22" name="TextBox 22"/>
          <p:cNvSpPr txBox="1"/>
          <p:nvPr/>
        </p:nvSpPr>
        <p:spPr>
          <a:xfrm>
            <a:off x="7818120" y="4892040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explanation</a:t>
            </a:r>
            <a:endParaRPr lang="ru-RU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052560" y="-548640"/>
            <a:ext cx="3474720" cy="3474720"/>
          </a:xfrm>
          <a:prstGeom prst="ellipse">
            <a:avLst/>
          </a:prstGeom>
          <a:solidFill>
            <a:srgbClr val="F59E0B">
              <a:alpha val="1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8640" y="47548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000" b="1">
                <a:solidFill>
                  <a:srgbClr val="FFFFFF"/>
                </a:solidFill>
                <a:latin typeface="Aptos Display"/>
                <a:cs typeface="Aptos Display"/>
              </a:rPr>
              <a:t>Безопасность персональных данных</a:t>
            </a:r>
            <a:endParaRPr lang="ru-RU" sz="3000"/>
          </a:p>
        </p:txBody>
      </p:sp>
      <p:sp>
        <p:nvSpPr>
          <p:cNvPr id="5" name="TextBox 5"/>
          <p:cNvSpPr txBox="1"/>
          <p:nvPr/>
        </p:nvSpPr>
        <p:spPr>
          <a:xfrm>
            <a:off x="566928" y="10789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500">
                <a:solidFill>
                  <a:srgbClr val="A7F3D0"/>
                </a:solidFill>
                <a:latin typeface="Aptos"/>
                <a:cs typeface="Aptos"/>
              </a:rPr>
              <a:t>CV и HR-данные обрабатываются по принципу контролируемого доступа</a:t>
            </a:r>
            <a:endParaRPr lang="ru-RU" sz="1500"/>
          </a:p>
        </p:txBody>
      </p:sp>
      <p:sp>
        <p:nvSpPr>
          <p:cNvPr id="6" name="Shape 6"/>
          <p:cNvSpPr/>
          <p:nvPr/>
        </p:nvSpPr>
        <p:spPr>
          <a:xfrm>
            <a:off x="685800" y="1874520"/>
            <a:ext cx="3063240" cy="1078992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22D3E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86968" y="2103120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50" b="1">
                <a:solidFill>
                  <a:srgbClr val="FFFFFF"/>
                </a:solidFill>
                <a:latin typeface="Aptos"/>
                <a:cs typeface="Aptos"/>
              </a:rPr>
              <a:t>RBAC</a:t>
            </a:r>
            <a:endParaRPr lang="ru-RU" sz="1750"/>
          </a:p>
        </p:txBody>
      </p:sp>
      <p:sp>
        <p:nvSpPr>
          <p:cNvPr id="8" name="TextBox 8"/>
          <p:cNvSpPr txBox="1"/>
          <p:nvPr/>
        </p:nvSpPr>
        <p:spPr>
          <a:xfrm>
            <a:off x="886968" y="2514600"/>
            <a:ext cx="26609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роли и permissions</a:t>
            </a:r>
            <a:endParaRPr lang="ru-RU" sz="1150"/>
          </a:p>
        </p:txBody>
      </p:sp>
      <p:sp>
        <p:nvSpPr>
          <p:cNvPr id="9" name="Shape 9"/>
          <p:cNvSpPr/>
          <p:nvPr/>
        </p:nvSpPr>
        <p:spPr>
          <a:xfrm>
            <a:off x="4389120" y="1874520"/>
            <a:ext cx="3063240" cy="1078992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F59E0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590288" y="2103120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50" b="1">
                <a:solidFill>
                  <a:srgbClr val="FFFFFF"/>
                </a:solidFill>
                <a:latin typeface="Aptos"/>
                <a:cs typeface="Aptos"/>
              </a:rPr>
              <a:t>MinIO</a:t>
            </a:r>
            <a:endParaRPr lang="ru-RU" sz="1750"/>
          </a:p>
        </p:txBody>
      </p:sp>
      <p:sp>
        <p:nvSpPr>
          <p:cNvPr id="11" name="TextBox 11"/>
          <p:cNvSpPr txBox="1"/>
          <p:nvPr/>
        </p:nvSpPr>
        <p:spPr>
          <a:xfrm>
            <a:off x="4590288" y="2514600"/>
            <a:ext cx="26609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изолированное хранение CV</a:t>
            </a:r>
            <a:endParaRPr lang="ru-RU" sz="1150"/>
          </a:p>
        </p:txBody>
      </p:sp>
      <p:sp>
        <p:nvSpPr>
          <p:cNvPr id="12" name="Shape 12"/>
          <p:cNvSpPr/>
          <p:nvPr/>
        </p:nvSpPr>
        <p:spPr>
          <a:xfrm>
            <a:off x="8092440" y="1874520"/>
            <a:ext cx="3063240" cy="1078992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22D3E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293608" y="2103120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50" b="1">
                <a:solidFill>
                  <a:srgbClr val="FFFFFF"/>
                </a:solidFill>
                <a:latin typeface="Aptos"/>
                <a:cs typeface="Aptos"/>
              </a:rPr>
              <a:t>Audit</a:t>
            </a:r>
            <a:endParaRPr lang="ru-RU" sz="1750"/>
          </a:p>
        </p:txBody>
      </p:sp>
      <p:sp>
        <p:nvSpPr>
          <p:cNvPr id="14" name="TextBox 14"/>
          <p:cNvSpPr txBox="1"/>
          <p:nvPr/>
        </p:nvSpPr>
        <p:spPr>
          <a:xfrm>
            <a:off x="8293608" y="2514600"/>
            <a:ext cx="26609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журнал действий</a:t>
            </a:r>
            <a:endParaRPr lang="ru-RU" sz="1150"/>
          </a:p>
        </p:txBody>
      </p:sp>
      <p:sp>
        <p:nvSpPr>
          <p:cNvPr id="15" name="Shape 15"/>
          <p:cNvSpPr/>
          <p:nvPr/>
        </p:nvSpPr>
        <p:spPr>
          <a:xfrm>
            <a:off x="1874520" y="3474720"/>
            <a:ext cx="4892040" cy="1078992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F59E0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075688" y="3703320"/>
            <a:ext cx="44897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50" b="1">
                <a:solidFill>
                  <a:srgbClr val="FFFFFF"/>
                </a:solidFill>
                <a:latin typeface="Aptos"/>
                <a:cs typeface="Aptos"/>
              </a:rPr>
              <a:t>Data minimization</a:t>
            </a:r>
            <a:endParaRPr lang="ru-RU" sz="1750"/>
          </a:p>
        </p:txBody>
      </p:sp>
      <p:sp>
        <p:nvSpPr>
          <p:cNvPr id="17" name="TextBox 17"/>
          <p:cNvSpPr txBox="1"/>
          <p:nvPr/>
        </p:nvSpPr>
        <p:spPr>
          <a:xfrm>
            <a:off x="2075688" y="4114800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минимум PII в UI</a:t>
            </a:r>
            <a:endParaRPr lang="ru-RU" sz="1150"/>
          </a:p>
        </p:txBody>
      </p:sp>
      <p:sp>
        <p:nvSpPr>
          <p:cNvPr id="18" name="Shape 18"/>
          <p:cNvSpPr/>
          <p:nvPr/>
        </p:nvSpPr>
        <p:spPr>
          <a:xfrm>
            <a:off x="6446520" y="3474720"/>
            <a:ext cx="4892040" cy="1078992"/>
          </a:xfrm>
          <a:prstGeom prst="roundRect">
            <a:avLst/>
          </a:prstGeom>
          <a:solidFill>
            <a:srgbClr val="102A3A"/>
          </a:solidFill>
          <a:ln w="12700">
            <a:solidFill>
              <a:srgbClr val="22D3E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47688" y="3703320"/>
            <a:ext cx="44897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750" b="1">
                <a:solidFill>
                  <a:srgbClr val="FFFFFF"/>
                </a:solidFill>
                <a:latin typeface="Aptos"/>
                <a:cs typeface="Aptos"/>
              </a:rPr>
              <a:t>Public scope</a:t>
            </a:r>
            <a:endParaRPr lang="ru-RU" sz="1750"/>
          </a:p>
        </p:txBody>
      </p:sp>
      <p:sp>
        <p:nvSpPr>
          <p:cNvPr id="20" name="TextBox 20"/>
          <p:cNvSpPr txBox="1"/>
          <p:nvPr/>
        </p:nvSpPr>
        <p:spPr>
          <a:xfrm>
            <a:off x="6647688" y="4114800"/>
            <a:ext cx="44897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150">
                <a:solidFill>
                  <a:srgbClr val="BAE6FD"/>
                </a:solidFill>
                <a:latin typeface="Aptos"/>
                <a:cs typeface="Aptos"/>
              </a:rPr>
              <a:t>только нужные сценарии</a:t>
            </a:r>
            <a:endParaRPr lang="ru-RU" sz="1150"/>
          </a:p>
        </p:txBody>
      </p:sp>
      <p:sp>
        <p:nvSpPr>
          <p:cNvPr id="21" name="Shape 21"/>
          <p:cNvSpPr/>
          <p:nvPr/>
        </p:nvSpPr>
        <p:spPr>
          <a:xfrm>
            <a:off x="822960" y="5166360"/>
            <a:ext cx="10515600" cy="53035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97280" y="5303520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400" b="1">
                <a:solidFill>
                  <a:srgbClr val="FFFFFF"/>
                </a:solidFill>
                <a:latin typeface="Aptos"/>
                <a:cs typeface="Aptos"/>
              </a:rPr>
              <a:t>Итог: автоматизация без раскрытия лишних персональных данных</a:t>
            </a:r>
            <a:endParaRPr lang="ru-RU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92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589520" y="-731520"/>
            <a:ext cx="4663440" cy="466344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-1097280" y="4023360"/>
            <a:ext cx="4754880" cy="2926080"/>
          </a:xfrm>
          <a:prstGeom prst="ellipse">
            <a:avLst/>
          </a:prstGeom>
          <a:solidFill>
            <a:srgbClr val="F59E0B">
              <a:alpha val="16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14400" y="20574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4300" b="1">
                <a:solidFill>
                  <a:srgbClr val="FFFFFF"/>
                </a:solidFill>
                <a:latin typeface="Aptos Display"/>
                <a:cs typeface="Aptos Display"/>
              </a:rPr>
              <a:t>Спасибо за внимание</a:t>
            </a:r>
            <a:endParaRPr lang="ru-RU" sz="4300"/>
          </a:p>
        </p:txBody>
      </p:sp>
      <p:sp>
        <p:nvSpPr>
          <p:cNvPr id="6" name="TextBox 6"/>
          <p:cNvSpPr txBox="1"/>
          <p:nvPr/>
        </p:nvSpPr>
        <p:spPr>
          <a:xfrm>
            <a:off x="914400" y="30632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2400" b="1">
                <a:solidFill>
                  <a:srgbClr val="A7F3D0"/>
                </a:solidFill>
                <a:latin typeface="Aptos"/>
                <a:cs typeface="Aptos"/>
              </a:rPr>
              <a:t>Вопросы?</a:t>
            </a:r>
            <a:endParaRPr lang="ru-RU" sz="2400"/>
          </a:p>
        </p:txBody>
      </p:sp>
      <p:sp>
        <p:nvSpPr>
          <p:cNvPr id="7" name="Shape 7"/>
          <p:cNvSpPr/>
          <p:nvPr/>
        </p:nvSpPr>
        <p:spPr>
          <a:xfrm>
            <a:off x="3886200" y="4800600"/>
            <a:ext cx="4389120" cy="53035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023360" y="494690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Войтович Евгений</a:t>
            </a:r>
            <a:endParaRPr lang="ru-RU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M Scientific">
  <a:themeElements>
    <a:clrScheme name="HRM">
      <a:dk1>
        <a:srgbClr val="071923"/>
      </a:dk1>
      <a:lt1>
        <a:srgbClr val="FFFFFF"/>
      </a:lt1>
      <a:dk2>
        <a:srgbClr val="102A3A"/>
      </a:dk2>
      <a:lt2>
        <a:srgbClr val="DFFBFF"/>
      </a:lt2>
      <a:accent1>
        <a:srgbClr val="22D3EE"/>
      </a:accent1>
      <a:accent2>
        <a:srgbClr val="F59E0B"/>
      </a:accent2>
      <a:accent3>
        <a:srgbClr val="0F766E"/>
      </a:accent3>
      <a:accent4>
        <a:srgbClr val="A7F3D0"/>
      </a:accent4>
      <a:accent5>
        <a:srgbClr val="1E3A8A"/>
      </a:accent5>
      <a:accent6>
        <a:srgbClr val="FDE68A"/>
      </a:accent6>
      <a:hlink>
        <a:srgbClr val="22D3EE"/>
      </a:hlink>
      <a:folHlink>
        <a:srgbClr val="14B8A6"/>
      </a:folHlink>
    </a:clrScheme>
    <a:fontScheme name="Aptos">
      <a:majorFont>
        <a:latin typeface="Aptos Display"/>
        <a:ea typeface=""/>
        <a:cs typeface="Aptos"/>
      </a:majorFont>
      <a:minorFont>
        <a:latin typeface="Aptos"/>
        <a:ea typeface=""/>
        <a:cs typeface="Aptos"/>
      </a:minorFont>
    </a:fontScheme>
    <a:fmtScheme name="HRM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</PresentationFormat>
  <Slides>7</Slides>
  <Company>HRM Project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Текст выступления по слайдам</dc:title>
  <dc:creator>Codex для Войтовича Евгения</dc:creator>
  <cp:lastModifiedBy>Codex</cp:lastModifiedBy>
  <dcterms:created xsi:type="dcterms:W3CDTF">2026-04-12T19:29:54.879907+00:00</dcterms:created>
  <dcterms:modified xsi:type="dcterms:W3CDTF">2026-04-12T19:29:54.879907+00:00</dcterms:modified>
</cp:coreProperties>
</file>